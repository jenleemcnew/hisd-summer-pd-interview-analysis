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c5232d839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c5232d839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c5232d839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c5232d839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c5232d8391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c5232d8391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c5232d8391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c5232d8391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g3c5232d8391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5" name="Google Shape;85;g3c5232d8391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c5232d8391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c5232d8391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c5232d8391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c5232d8391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c5232d8391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c5232d8391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3c5232d8391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3c5232d8391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c5232d8391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c5232d8391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c5232d8391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c5232d8391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c5232d8391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c5232d8391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c5232d8391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c5232d8391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g3c5232d8391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 name="Google Shape;141;g3c5232d8391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322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1F2D4E"/>
              </a:buClr>
              <a:buSzPts val="2800"/>
              <a:buNone/>
              <a:defRPr sz="2800">
                <a:solidFill>
                  <a:srgbClr val="1F2D4E"/>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8" name="Google Shape;8;p1"/>
          <p:cNvSpPr txBox="1"/>
          <p:nvPr>
            <p:ph idx="1" type="body"/>
          </p:nvPr>
        </p:nvSpPr>
        <p:spPr>
          <a:xfrm>
            <a:off x="311700" y="11322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rgbClr val="1F2D4E"/>
              </a:buClr>
              <a:buSzPts val="1800"/>
              <a:buChar char="●"/>
              <a:defRPr sz="1800">
                <a:solidFill>
                  <a:srgbClr val="1F2D4E"/>
                </a:solidFill>
              </a:defRPr>
            </a:lvl1pPr>
            <a:lvl2pPr indent="-317500" lvl="1" marL="914400">
              <a:lnSpc>
                <a:spcPct val="115000"/>
              </a:lnSpc>
              <a:spcBef>
                <a:spcPts val="0"/>
              </a:spcBef>
              <a:spcAft>
                <a:spcPts val="0"/>
              </a:spcAft>
              <a:buClr>
                <a:srgbClr val="1F2D4E"/>
              </a:buClr>
              <a:buSzPts val="1400"/>
              <a:buChar char="○"/>
              <a:defRPr>
                <a:solidFill>
                  <a:srgbClr val="1F2D4E"/>
                </a:solidFill>
              </a:defRPr>
            </a:lvl2pPr>
            <a:lvl3pPr indent="-317500" lvl="2" marL="1371600">
              <a:lnSpc>
                <a:spcPct val="115000"/>
              </a:lnSpc>
              <a:spcBef>
                <a:spcPts val="0"/>
              </a:spcBef>
              <a:spcAft>
                <a:spcPts val="0"/>
              </a:spcAft>
              <a:buClr>
                <a:srgbClr val="1F2D4E"/>
              </a:buClr>
              <a:buSzPts val="1400"/>
              <a:buChar char="■"/>
              <a:defRPr>
                <a:solidFill>
                  <a:srgbClr val="1F2D4E"/>
                </a:solidFill>
              </a:defRPr>
            </a:lvl3pPr>
            <a:lvl4pPr indent="-317500" lvl="3" marL="1828800">
              <a:lnSpc>
                <a:spcPct val="115000"/>
              </a:lnSpc>
              <a:spcBef>
                <a:spcPts val="0"/>
              </a:spcBef>
              <a:spcAft>
                <a:spcPts val="0"/>
              </a:spcAft>
              <a:buClr>
                <a:srgbClr val="1F2D4E"/>
              </a:buClr>
              <a:buSzPts val="1400"/>
              <a:buChar char="●"/>
              <a:defRPr>
                <a:solidFill>
                  <a:srgbClr val="1F2D4E"/>
                </a:solidFill>
              </a:defRPr>
            </a:lvl4pPr>
            <a:lvl5pPr indent="-317500" lvl="4" marL="2286000">
              <a:lnSpc>
                <a:spcPct val="115000"/>
              </a:lnSpc>
              <a:spcBef>
                <a:spcPts val="0"/>
              </a:spcBef>
              <a:spcAft>
                <a:spcPts val="0"/>
              </a:spcAft>
              <a:buClr>
                <a:srgbClr val="1F2D4E"/>
              </a:buClr>
              <a:buSzPts val="1400"/>
              <a:buChar char="○"/>
              <a:defRPr>
                <a:solidFill>
                  <a:srgbClr val="1F2D4E"/>
                </a:solidFill>
              </a:defRPr>
            </a:lvl5pPr>
            <a:lvl6pPr indent="-317500" lvl="5" marL="2743200">
              <a:lnSpc>
                <a:spcPct val="115000"/>
              </a:lnSpc>
              <a:spcBef>
                <a:spcPts val="0"/>
              </a:spcBef>
              <a:spcAft>
                <a:spcPts val="0"/>
              </a:spcAft>
              <a:buClr>
                <a:srgbClr val="1F2D4E"/>
              </a:buClr>
              <a:buSzPts val="1400"/>
              <a:buChar char="■"/>
              <a:defRPr>
                <a:solidFill>
                  <a:srgbClr val="1F2D4E"/>
                </a:solidFill>
              </a:defRPr>
            </a:lvl6pPr>
            <a:lvl7pPr indent="-317500" lvl="6" marL="3200400">
              <a:lnSpc>
                <a:spcPct val="115000"/>
              </a:lnSpc>
              <a:spcBef>
                <a:spcPts val="0"/>
              </a:spcBef>
              <a:spcAft>
                <a:spcPts val="0"/>
              </a:spcAft>
              <a:buClr>
                <a:srgbClr val="1F2D4E"/>
              </a:buClr>
              <a:buSzPts val="1400"/>
              <a:buChar char="●"/>
              <a:defRPr>
                <a:solidFill>
                  <a:srgbClr val="1F2D4E"/>
                </a:solidFill>
              </a:defRPr>
            </a:lvl7pPr>
            <a:lvl8pPr indent="-317500" lvl="7" marL="3657600">
              <a:lnSpc>
                <a:spcPct val="115000"/>
              </a:lnSpc>
              <a:spcBef>
                <a:spcPts val="0"/>
              </a:spcBef>
              <a:spcAft>
                <a:spcPts val="0"/>
              </a:spcAft>
              <a:buClr>
                <a:srgbClr val="1F2D4E"/>
              </a:buClr>
              <a:buSzPts val="1400"/>
              <a:buChar char="○"/>
              <a:defRPr>
                <a:solidFill>
                  <a:srgbClr val="1F2D4E"/>
                </a:solidFill>
              </a:defRPr>
            </a:lvl8pPr>
            <a:lvl9pPr indent="-317500" lvl="8" marL="4114800">
              <a:lnSpc>
                <a:spcPct val="115000"/>
              </a:lnSpc>
              <a:spcBef>
                <a:spcPts val="0"/>
              </a:spcBef>
              <a:spcAft>
                <a:spcPts val="0"/>
              </a:spcAft>
              <a:buClr>
                <a:srgbClr val="1F2D4E"/>
              </a:buClr>
              <a:buSzPts val="1400"/>
              <a:buChar char="■"/>
              <a:defRPr>
                <a:solidFill>
                  <a:srgbClr val="1F2D4E"/>
                </a:solidFil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SzPts val="990"/>
              <a:buNone/>
            </a:pPr>
            <a:r>
              <a:rPr lang="en" sz="4000"/>
              <a:t>HISD Summer School Professional Development Session Survey Analysis </a:t>
            </a:r>
            <a:endParaRPr sz="4000"/>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32500" lnSpcReduction="10000"/>
          </a:bodyPr>
          <a:lstStyle/>
          <a:p>
            <a:pPr indent="0" lvl="0" marL="0" rtl="0" algn="ctr">
              <a:spcBef>
                <a:spcPts val="0"/>
              </a:spcBef>
              <a:spcAft>
                <a:spcPts val="0"/>
              </a:spcAft>
              <a:buNone/>
            </a:pPr>
            <a:r>
              <a:rPr lang="en" sz="5200"/>
              <a:t>Presented by: Jennifer McNew </a:t>
            </a:r>
            <a:endParaRPr sz="5200"/>
          </a:p>
          <a:p>
            <a:pPr indent="0" lvl="0" marL="0" rtl="0" algn="ctr">
              <a:spcBef>
                <a:spcPts val="0"/>
              </a:spcBef>
              <a:spcAft>
                <a:spcPts val="0"/>
              </a:spcAft>
              <a:buClr>
                <a:schemeClr val="dk1"/>
              </a:buClr>
              <a:buSzPts val="358"/>
              <a:buFont typeface="Arial"/>
              <a:buNone/>
            </a:pPr>
            <a:r>
              <a:rPr lang="en" sz="5200"/>
              <a:t>March 2026</a:t>
            </a:r>
            <a:endParaRPr sz="5200"/>
          </a:p>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220"/>
              <a:t>Project Overview:</a:t>
            </a:r>
            <a:endParaRPr sz="2220"/>
          </a:p>
        </p:txBody>
      </p:sp>
      <p:sp>
        <p:nvSpPr>
          <p:cNvPr id="61" name="Google Shape;61;p14"/>
          <p:cNvSpPr txBox="1"/>
          <p:nvPr>
            <p:ph idx="1" type="body"/>
          </p:nvPr>
        </p:nvSpPr>
        <p:spPr>
          <a:xfrm>
            <a:off x="311700" y="11322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100"/>
              <a:t>This analysis examines 1,149 professional development session survey responses collected during HISD's Summer School PD program. </a:t>
            </a:r>
            <a:endParaRPr sz="1100"/>
          </a:p>
          <a:p>
            <a:pPr indent="0" lvl="0" marL="0" rtl="0" algn="l">
              <a:spcBef>
                <a:spcPts val="1200"/>
              </a:spcBef>
              <a:spcAft>
                <a:spcPts val="0"/>
              </a:spcAft>
              <a:buNone/>
            </a:pPr>
            <a:r>
              <a:rPr lang="en" sz="1100"/>
              <a:t>The dataset includes participant feedback across 5 dimensions: </a:t>
            </a:r>
            <a:endParaRPr sz="1100"/>
          </a:p>
          <a:p>
            <a:pPr indent="-298450" lvl="0" marL="457200" rtl="0" algn="l">
              <a:spcBef>
                <a:spcPts val="1200"/>
              </a:spcBef>
              <a:spcAft>
                <a:spcPts val="0"/>
              </a:spcAft>
              <a:buSzPts val="1100"/>
              <a:buChar char="●"/>
            </a:pPr>
            <a:r>
              <a:rPr lang="en" sz="1100"/>
              <a:t>Clarity,</a:t>
            </a:r>
            <a:endParaRPr sz="1100"/>
          </a:p>
          <a:p>
            <a:pPr indent="-298450" lvl="0" marL="457200" rtl="0" algn="l">
              <a:spcBef>
                <a:spcPts val="0"/>
              </a:spcBef>
              <a:spcAft>
                <a:spcPts val="0"/>
              </a:spcAft>
              <a:buSzPts val="1100"/>
              <a:buChar char="●"/>
            </a:pPr>
            <a:r>
              <a:rPr lang="en" sz="1100"/>
              <a:t>Value, </a:t>
            </a:r>
            <a:endParaRPr sz="1100"/>
          </a:p>
          <a:p>
            <a:pPr indent="-298450" lvl="0" marL="457200" rtl="0" algn="l">
              <a:spcBef>
                <a:spcPts val="0"/>
              </a:spcBef>
              <a:spcAft>
                <a:spcPts val="0"/>
              </a:spcAft>
              <a:buSzPts val="1100"/>
              <a:buChar char="●"/>
            </a:pPr>
            <a:r>
              <a:rPr lang="en" sz="1100"/>
              <a:t>Engagement, </a:t>
            </a:r>
            <a:endParaRPr sz="1100"/>
          </a:p>
          <a:p>
            <a:pPr indent="-298450" lvl="0" marL="457200" rtl="0" algn="l">
              <a:spcBef>
                <a:spcPts val="0"/>
              </a:spcBef>
              <a:spcAft>
                <a:spcPts val="0"/>
              </a:spcAft>
              <a:buSzPts val="1100"/>
              <a:buChar char="●"/>
            </a:pPr>
            <a:r>
              <a:rPr lang="en" sz="1100"/>
              <a:t>Confidence,</a:t>
            </a:r>
            <a:endParaRPr sz="1100"/>
          </a:p>
          <a:p>
            <a:pPr indent="-298450" lvl="0" marL="457200" rtl="0" algn="l">
              <a:spcBef>
                <a:spcPts val="0"/>
              </a:spcBef>
              <a:spcAft>
                <a:spcPts val="0"/>
              </a:spcAft>
              <a:buSzPts val="1100"/>
              <a:buChar char="●"/>
            </a:pPr>
            <a:r>
              <a:rPr lang="en" sz="1100"/>
              <a:t>Preparedness. </a:t>
            </a:r>
            <a:endParaRPr sz="1100"/>
          </a:p>
          <a:p>
            <a:pPr indent="0" lvl="0" marL="0" rtl="0" algn="l">
              <a:spcBef>
                <a:spcPts val="1200"/>
              </a:spcBef>
              <a:spcAft>
                <a:spcPts val="1200"/>
              </a:spcAft>
              <a:buNone/>
            </a:pPr>
            <a:r>
              <a:rPr lang="en" sz="1100"/>
              <a:t>Sessions were facilitated by 31 facilitators across elementary, middle, and high school grade bands, covering 10 content categories.</a:t>
            </a:r>
            <a:endParaRPr sz="11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Methodology:</a:t>
            </a:r>
            <a:endParaRPr/>
          </a:p>
        </p:txBody>
      </p:sp>
      <p:sp>
        <p:nvSpPr>
          <p:cNvPr id="67" name="Google Shape;67;p15"/>
          <p:cNvSpPr txBox="1"/>
          <p:nvPr>
            <p:ph idx="1" type="body"/>
          </p:nvPr>
        </p:nvSpPr>
        <p:spPr>
          <a:xfrm>
            <a:off x="311700" y="1132275"/>
            <a:ext cx="8520600" cy="3416400"/>
          </a:xfrm>
          <a:prstGeom prst="rect">
            <a:avLst/>
          </a:prstGeom>
        </p:spPr>
        <p:txBody>
          <a:bodyPr anchorCtr="0" anchor="t" bIns="91425" lIns="91425" spcFirstLastPara="1" rIns="91425" wrap="square" tIns="91425">
            <a:noAutofit/>
          </a:bodyPr>
          <a:lstStyle/>
          <a:p>
            <a:pPr indent="0" lvl="0" marL="0" rtl="0" algn="l">
              <a:spcBef>
                <a:spcPts val="1200"/>
              </a:spcBef>
              <a:spcAft>
                <a:spcPts val="0"/>
              </a:spcAft>
              <a:buNone/>
            </a:pPr>
            <a:r>
              <a:rPr lang="en" sz="1000"/>
              <a:t>Data Source: Summer School PD Session Survey (1,149 responses, 15 columns) </a:t>
            </a:r>
            <a:endParaRPr sz="1000"/>
          </a:p>
          <a:p>
            <a:pPr indent="0" lvl="0" marL="0" rtl="0" algn="l">
              <a:spcBef>
                <a:spcPts val="1200"/>
              </a:spcBef>
              <a:spcAft>
                <a:spcPts val="0"/>
              </a:spcAft>
              <a:buNone/>
            </a:pPr>
            <a:r>
              <a:rPr lang="en" sz="1000"/>
              <a:t>Tools Used: Power BI Web via Microsoft Fabric</a:t>
            </a:r>
            <a:endParaRPr sz="1000"/>
          </a:p>
          <a:p>
            <a:pPr indent="0" lvl="0" marL="0" rtl="0" algn="l">
              <a:spcBef>
                <a:spcPts val="1200"/>
              </a:spcBef>
              <a:spcAft>
                <a:spcPts val="0"/>
              </a:spcAft>
              <a:buNone/>
            </a:pPr>
            <a:r>
              <a:rPr lang="en" sz="1000"/>
              <a:t>Steps Taken:</a:t>
            </a:r>
            <a:endParaRPr sz="1000"/>
          </a:p>
          <a:p>
            <a:pPr indent="-292100" lvl="0" marL="457200" rtl="0" algn="l">
              <a:spcBef>
                <a:spcPts val="1200"/>
              </a:spcBef>
              <a:spcAft>
                <a:spcPts val="0"/>
              </a:spcAft>
              <a:buClr>
                <a:schemeClr val="dk1"/>
              </a:buClr>
              <a:buSzPts val="1000"/>
              <a:buChar char="●"/>
            </a:pPr>
            <a:r>
              <a:rPr lang="en" sz="1000"/>
              <a:t>Imported CSV data and performed Power Query transformations including column renaming and data type validation</a:t>
            </a:r>
            <a:endParaRPr sz="1000"/>
          </a:p>
          <a:p>
            <a:pPr indent="-292100" lvl="0" marL="457200" rtl="0" algn="l">
              <a:spcBef>
                <a:spcPts val="0"/>
              </a:spcBef>
              <a:spcAft>
                <a:spcPts val="0"/>
              </a:spcAft>
              <a:buClr>
                <a:schemeClr val="dk1"/>
              </a:buClr>
              <a:buSzPts val="1000"/>
              <a:buChar char="●"/>
            </a:pPr>
            <a:r>
              <a:rPr lang="en" sz="1000"/>
              <a:t>Standardized 164 unique Content Focus entries into 10 meaningful content categories using DAX SWITCH/CONTAINSSTRING logic</a:t>
            </a:r>
            <a:endParaRPr sz="1000"/>
          </a:p>
          <a:p>
            <a:pPr indent="-292100" lvl="0" marL="457200" rtl="0" algn="l">
              <a:spcBef>
                <a:spcPts val="0"/>
              </a:spcBef>
              <a:spcAft>
                <a:spcPts val="0"/>
              </a:spcAft>
              <a:buClr>
                <a:schemeClr val="dk1"/>
              </a:buClr>
              <a:buSzPts val="1000"/>
              <a:buChar char="●"/>
            </a:pPr>
            <a:r>
              <a:rPr lang="en" sz="1000"/>
              <a:t>Created shortened session name labels for improved visual clarity</a:t>
            </a:r>
            <a:endParaRPr sz="1000"/>
          </a:p>
          <a:p>
            <a:pPr indent="-292100" lvl="0" marL="457200" rtl="0" algn="l">
              <a:spcBef>
                <a:spcPts val="0"/>
              </a:spcBef>
              <a:spcAft>
                <a:spcPts val="0"/>
              </a:spcAft>
              <a:buClr>
                <a:schemeClr val="dk1"/>
              </a:buClr>
              <a:buSzPts val="1000"/>
              <a:buChar char="●"/>
            </a:pPr>
            <a:r>
              <a:rPr lang="en" sz="1000"/>
              <a:t>Built interactive 3-page dashboard with slicers for Grade Level Band, Facilitator, and Content Category</a:t>
            </a:r>
            <a:endParaRPr sz="1000"/>
          </a:p>
          <a:p>
            <a:pPr indent="0" lvl="0" marL="0" rtl="0" algn="l">
              <a:spcBef>
                <a:spcPts val="1200"/>
              </a:spcBef>
              <a:spcAft>
                <a:spcPts val="0"/>
              </a:spcAft>
              <a:buNone/>
            </a:pPr>
            <a:r>
              <a:rPr lang="en" sz="1000"/>
              <a:t>Challenges Overcome:</a:t>
            </a:r>
            <a:endParaRPr sz="1000"/>
          </a:p>
          <a:p>
            <a:pPr indent="-292100" lvl="0" marL="457200" rtl="0" algn="l">
              <a:spcBef>
                <a:spcPts val="1200"/>
              </a:spcBef>
              <a:spcAft>
                <a:spcPts val="0"/>
              </a:spcAft>
              <a:buClr>
                <a:schemeClr val="dk1"/>
              </a:buClr>
              <a:buSzPts val="1000"/>
              <a:buChar char="●"/>
            </a:pPr>
            <a:r>
              <a:rPr lang="en" sz="1000"/>
              <a:t>Navigated Power BI web version limitations on Mac without Desktop access</a:t>
            </a:r>
            <a:endParaRPr sz="1000"/>
          </a:p>
          <a:p>
            <a:pPr indent="-292100" lvl="0" marL="457200" rtl="0" algn="l">
              <a:spcBef>
                <a:spcPts val="0"/>
              </a:spcBef>
              <a:spcAft>
                <a:spcPts val="0"/>
              </a:spcAft>
              <a:buClr>
                <a:schemeClr val="dk1"/>
              </a:buClr>
              <a:buSzPts val="1000"/>
              <a:buChar char="●"/>
            </a:pPr>
            <a:r>
              <a:rPr lang="en" sz="1000"/>
              <a:t>Resolved Microsoft Fabric infrastructure error (LargeModelMovedAcrossRegions) by managing semantic model storage format settings</a:t>
            </a:r>
            <a:endParaRPr sz="1000"/>
          </a:p>
          <a:p>
            <a:pPr indent="-292100" lvl="0" marL="457200" rtl="0" algn="l">
              <a:spcBef>
                <a:spcPts val="0"/>
              </a:spcBef>
              <a:spcAft>
                <a:spcPts val="0"/>
              </a:spcAft>
              <a:buClr>
                <a:schemeClr val="dk1"/>
              </a:buClr>
              <a:buSzPts val="1000"/>
              <a:buChar char="●"/>
            </a:pPr>
            <a:r>
              <a:rPr lang="en" sz="1000"/>
              <a:t>Adapted workflow to use native Power BI aggregations as workaround when DAX measures were unavailable due to infrastructure constraints</a:t>
            </a:r>
            <a:endParaRPr sz="1000"/>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200"/>
              <a:t>Key Finding 1: Grade Level Disparities</a:t>
            </a:r>
            <a:endParaRPr sz="2200"/>
          </a:p>
          <a:p>
            <a:pPr indent="0" lvl="0" marL="0" rtl="0" algn="l">
              <a:spcBef>
                <a:spcPts val="0"/>
              </a:spcBef>
              <a:spcAft>
                <a:spcPts val="0"/>
              </a:spcAft>
              <a:buNone/>
            </a:pPr>
            <a:r>
              <a:t/>
            </a:r>
            <a:endParaRPr/>
          </a:p>
        </p:txBody>
      </p:sp>
      <p:sp>
        <p:nvSpPr>
          <p:cNvPr id="73" name="Google Shape;73;p16"/>
          <p:cNvSpPr txBox="1"/>
          <p:nvPr>
            <p:ph idx="1" type="body"/>
          </p:nvPr>
        </p:nvSpPr>
        <p:spPr>
          <a:xfrm>
            <a:off x="311700" y="885175"/>
            <a:ext cx="8520600" cy="4016700"/>
          </a:xfrm>
          <a:prstGeom prst="rect">
            <a:avLst/>
          </a:prstGeom>
        </p:spPr>
        <p:txBody>
          <a:bodyPr anchorCtr="0" anchor="t" bIns="91425" lIns="91425" spcFirstLastPara="1" rIns="91425" wrap="square" tIns="91425">
            <a:normAutofit fontScale="40000" lnSpcReduction="20000"/>
          </a:bodyPr>
          <a:lstStyle/>
          <a:p>
            <a:pPr indent="0" lvl="0" marL="0" rtl="0" algn="l">
              <a:spcBef>
                <a:spcPts val="1200"/>
              </a:spcBef>
              <a:spcAft>
                <a:spcPts val="0"/>
              </a:spcAft>
              <a:buNone/>
            </a:pPr>
            <a:r>
              <a:rPr lang="en" sz="2700"/>
              <a:t>Overall district average feedback score: 4.62 out of 5.0</a:t>
            </a:r>
            <a:endParaRPr sz="2700"/>
          </a:p>
          <a:p>
            <a:pPr indent="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0"/>
              </a:spcAft>
              <a:buNone/>
            </a:pPr>
            <a:r>
              <a:t/>
            </a:r>
            <a:endParaRPr sz="1500"/>
          </a:p>
          <a:p>
            <a:pPr indent="0" lvl="0" marL="0" rtl="0" algn="l">
              <a:spcBef>
                <a:spcPts val="1200"/>
              </a:spcBef>
              <a:spcAft>
                <a:spcPts val="0"/>
              </a:spcAft>
              <a:buNone/>
            </a:pPr>
            <a:r>
              <a:t/>
            </a:r>
            <a:endParaRPr sz="1700"/>
          </a:p>
          <a:p>
            <a:pPr indent="0" lvl="0" marL="0" rtl="0" algn="l">
              <a:spcBef>
                <a:spcPts val="1200"/>
              </a:spcBef>
              <a:spcAft>
                <a:spcPts val="0"/>
              </a:spcAft>
              <a:buNone/>
            </a:pPr>
            <a:r>
              <a:t/>
            </a:r>
            <a:endParaRPr sz="1700"/>
          </a:p>
          <a:p>
            <a:pPr indent="0" lvl="0" marL="0" rtl="0" algn="l">
              <a:spcBef>
                <a:spcPts val="1200"/>
              </a:spcBef>
              <a:spcAft>
                <a:spcPts val="0"/>
              </a:spcAft>
              <a:buNone/>
            </a:pPr>
            <a:r>
              <a:rPr lang="en" sz="2700"/>
              <a:t>Key Insight: High school participants consistently rated PD sessions lower across both overall feedback and preparedness scores. The 0.13 point gap between Middle and High school suggests high school teachers may have different or more specialized PD needs that current sessions are not fully addressing.</a:t>
            </a:r>
            <a:endParaRPr sz="2700"/>
          </a:p>
          <a:p>
            <a:pPr indent="0" lvl="0" marL="0" rtl="0" algn="l">
              <a:spcBef>
                <a:spcPts val="1200"/>
              </a:spcBef>
              <a:spcAft>
                <a:spcPts val="0"/>
              </a:spcAft>
              <a:buNone/>
            </a:pPr>
            <a:r>
              <a:rPr lang="en" sz="2700"/>
              <a:t>Recommendation: Develop differentiated PD content specifically designed for high school instructional contexts.</a:t>
            </a:r>
            <a:endParaRPr sz="2700"/>
          </a:p>
          <a:p>
            <a:pPr indent="0" lvl="0" marL="0" rtl="0" algn="l">
              <a:spcBef>
                <a:spcPts val="1200"/>
              </a:spcBef>
              <a:spcAft>
                <a:spcPts val="1200"/>
              </a:spcAft>
              <a:buNone/>
            </a:pPr>
            <a:r>
              <a:t/>
            </a:r>
            <a:endParaRPr/>
          </a:p>
        </p:txBody>
      </p:sp>
      <p:pic>
        <p:nvPicPr>
          <p:cNvPr id="74" name="Google Shape;74;p16" title="Screenshot 2026-03-05 at 10.35.03 AM.png"/>
          <p:cNvPicPr preferRelativeResize="0"/>
          <p:nvPr/>
        </p:nvPicPr>
        <p:blipFill>
          <a:blip r:embed="rId3">
            <a:alphaModFix/>
          </a:blip>
          <a:stretch>
            <a:fillRect/>
          </a:stretch>
        </p:blipFill>
        <p:spPr>
          <a:xfrm>
            <a:off x="427500" y="1177450"/>
            <a:ext cx="2879376" cy="2546950"/>
          </a:xfrm>
          <a:prstGeom prst="rect">
            <a:avLst/>
          </a:prstGeom>
          <a:noFill/>
          <a:ln>
            <a:noFill/>
          </a:ln>
        </p:spPr>
      </p:pic>
      <p:pic>
        <p:nvPicPr>
          <p:cNvPr id="75" name="Google Shape;75;p16" title="Screenshot 2026-03-05 at 10.37.43 AM.png"/>
          <p:cNvPicPr preferRelativeResize="0"/>
          <p:nvPr/>
        </p:nvPicPr>
        <p:blipFill>
          <a:blip r:embed="rId4">
            <a:alphaModFix/>
          </a:blip>
          <a:stretch>
            <a:fillRect/>
          </a:stretch>
        </p:blipFill>
        <p:spPr>
          <a:xfrm>
            <a:off x="4417525" y="1498525"/>
            <a:ext cx="3388151" cy="18642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t>Key Finding 2: Content Category Performance</a:t>
            </a:r>
            <a:endParaRPr sz="2200"/>
          </a:p>
        </p:txBody>
      </p:sp>
      <p:sp>
        <p:nvSpPr>
          <p:cNvPr id="81" name="Google Shape;81;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sz="1100"/>
              <a:t>Key Insight: Social Studies and Special Education consistently scored below the district average. The 0.28 point spread across content categories indicates meaningful variation in PD quality and relevance by subject area.</a:t>
            </a:r>
            <a:endParaRPr sz="1100"/>
          </a:p>
          <a:p>
            <a:pPr indent="0" lvl="0" marL="0" rtl="0" algn="l">
              <a:spcBef>
                <a:spcPts val="1200"/>
              </a:spcBef>
              <a:spcAft>
                <a:spcPts val="0"/>
              </a:spcAft>
              <a:buClr>
                <a:schemeClr val="dk1"/>
              </a:buClr>
              <a:buSzPts val="1100"/>
              <a:buFont typeface="Arial"/>
              <a:buNone/>
            </a:pPr>
            <a:r>
              <a:rPr lang="en" sz="1100"/>
              <a:t>Recommendation: Review and redesign Social Studies and Special Education PD content. Consider using Summer School General sessions as a model for other content areas given their highest satisfaction rating.</a:t>
            </a:r>
            <a:endParaRPr sz="1100"/>
          </a:p>
          <a:p>
            <a:pPr indent="0" lvl="0" marL="0" rtl="0" algn="l">
              <a:spcBef>
                <a:spcPts val="1200"/>
              </a:spcBef>
              <a:spcAft>
                <a:spcPts val="1200"/>
              </a:spcAft>
              <a:buNone/>
            </a:pPr>
            <a:r>
              <a:t/>
            </a:r>
            <a:endParaRPr/>
          </a:p>
        </p:txBody>
      </p:sp>
      <p:pic>
        <p:nvPicPr>
          <p:cNvPr id="82" name="Google Shape;82;p17" title="Screenshot 2026-03-05 at 11.00.46 AM.png"/>
          <p:cNvPicPr preferRelativeResize="0"/>
          <p:nvPr/>
        </p:nvPicPr>
        <p:blipFill rotWithShape="1">
          <a:blip r:embed="rId3">
            <a:alphaModFix/>
          </a:blip>
          <a:srcRect b="1759" l="1555" r="0" t="0"/>
          <a:stretch/>
        </p:blipFill>
        <p:spPr>
          <a:xfrm>
            <a:off x="4492675" y="1170125"/>
            <a:ext cx="4498926" cy="32641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t>Key Finding 3: Facilitator Performance</a:t>
            </a:r>
            <a:endParaRPr sz="2200"/>
          </a:p>
        </p:txBody>
      </p:sp>
      <p:sp>
        <p:nvSpPr>
          <p:cNvPr id="88" name="Google Shape;88;p18"/>
          <p:cNvSpPr txBox="1"/>
          <p:nvPr>
            <p:ph idx="1" type="body"/>
          </p:nvPr>
        </p:nvSpPr>
        <p:spPr>
          <a:xfrm>
            <a:off x="311700" y="113227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lnSpc>
                <a:spcPct val="150000"/>
              </a:lnSpc>
              <a:spcBef>
                <a:spcPts val="0"/>
              </a:spcBef>
              <a:spcAft>
                <a:spcPts val="0"/>
              </a:spcAft>
              <a:buClr>
                <a:schemeClr val="dk1"/>
              </a:buClr>
              <a:buSzPct val="27500"/>
              <a:buFont typeface="Arial"/>
              <a:buNone/>
            </a:pPr>
            <a:r>
              <a:rPr lang="en" sz="4000">
                <a:highlight>
                  <a:schemeClr val="lt1"/>
                </a:highlight>
              </a:rPr>
              <a:t>Top Performers (minimum 10 participants):</a:t>
            </a:r>
            <a:endParaRPr sz="4000">
              <a:highlight>
                <a:schemeClr val="lt1"/>
              </a:highlight>
            </a:endParaRPr>
          </a:p>
          <a:p>
            <a:pPr indent="-292100" lvl="0" marL="457200" rtl="0" algn="l">
              <a:spcBef>
                <a:spcPts val="0"/>
              </a:spcBef>
              <a:spcAft>
                <a:spcPts val="0"/>
              </a:spcAft>
              <a:buClr>
                <a:srgbClr val="1F2D4E"/>
              </a:buClr>
              <a:buSzPct val="100000"/>
              <a:buFont typeface="Arial"/>
              <a:buChar char="●"/>
            </a:pPr>
            <a:r>
              <a:rPr lang="en" sz="4000">
                <a:highlight>
                  <a:schemeClr val="lt1"/>
                </a:highlight>
              </a:rPr>
              <a:t>Kathy — 4.74 (129 participants)</a:t>
            </a:r>
            <a:endParaRPr sz="4000">
              <a:highlight>
                <a:schemeClr val="lt1"/>
              </a:highlight>
            </a:endParaRPr>
          </a:p>
          <a:p>
            <a:pPr indent="-292100" lvl="0" marL="457200" rtl="0" algn="l">
              <a:spcBef>
                <a:spcPts val="0"/>
              </a:spcBef>
              <a:spcAft>
                <a:spcPts val="0"/>
              </a:spcAft>
              <a:buClr>
                <a:srgbClr val="1F2D4E"/>
              </a:buClr>
              <a:buSzPct val="100000"/>
              <a:buFont typeface="Arial"/>
              <a:buChar char="●"/>
            </a:pPr>
            <a:r>
              <a:rPr lang="en" sz="4000">
                <a:highlight>
                  <a:schemeClr val="lt1"/>
                </a:highlight>
              </a:rPr>
              <a:t>Angel — 4.68 (107 participants)Angela — 4.67 (70 participants)</a:t>
            </a:r>
            <a:endParaRPr sz="4000">
              <a:highlight>
                <a:schemeClr val="lt1"/>
              </a:highlight>
            </a:endParaRPr>
          </a:p>
          <a:p>
            <a:pPr indent="-292100" lvl="0" marL="457200" rtl="0" algn="l">
              <a:spcBef>
                <a:spcPts val="0"/>
              </a:spcBef>
              <a:spcAft>
                <a:spcPts val="0"/>
              </a:spcAft>
              <a:buClr>
                <a:srgbClr val="1F2D4E"/>
              </a:buClr>
              <a:buSzPct val="100000"/>
              <a:buFont typeface="Arial"/>
              <a:buChar char="●"/>
            </a:pPr>
            <a:r>
              <a:rPr lang="en" sz="4000">
                <a:highlight>
                  <a:schemeClr val="lt1"/>
                </a:highlight>
              </a:rPr>
              <a:t>Josh — 4.67 (30 participants)</a:t>
            </a:r>
            <a:endParaRPr sz="4000">
              <a:highlight>
                <a:schemeClr val="lt1"/>
              </a:highlight>
            </a:endParaRPr>
          </a:p>
          <a:p>
            <a:pPr indent="0" lvl="0" marL="0" rtl="0" algn="l">
              <a:lnSpc>
                <a:spcPct val="150000"/>
              </a:lnSpc>
              <a:spcBef>
                <a:spcPts val="900"/>
              </a:spcBef>
              <a:spcAft>
                <a:spcPts val="0"/>
              </a:spcAft>
              <a:buNone/>
            </a:pPr>
            <a:r>
              <a:rPr lang="en" sz="4000">
                <a:highlight>
                  <a:schemeClr val="lt1"/>
                </a:highlight>
              </a:rPr>
              <a:t>Facilitators Needing Support:Raul — 4.14 (7 participants)</a:t>
            </a:r>
            <a:endParaRPr sz="4000">
              <a:highlight>
                <a:schemeClr val="lt1"/>
              </a:highlight>
            </a:endParaRPr>
          </a:p>
          <a:p>
            <a:pPr indent="-292100" lvl="0" marL="457200" rtl="0" algn="l">
              <a:spcBef>
                <a:spcPts val="0"/>
              </a:spcBef>
              <a:spcAft>
                <a:spcPts val="0"/>
              </a:spcAft>
              <a:buClr>
                <a:srgbClr val="1F2D4E"/>
              </a:buClr>
              <a:buSzPct val="100000"/>
              <a:buFont typeface="Arial"/>
              <a:buChar char="●"/>
            </a:pPr>
            <a:r>
              <a:rPr lang="en" sz="4000">
                <a:highlight>
                  <a:schemeClr val="lt1"/>
                </a:highlight>
              </a:rPr>
              <a:t>Robert — 4.31 (16 participants)</a:t>
            </a:r>
            <a:endParaRPr sz="4000">
              <a:highlight>
                <a:schemeClr val="lt1"/>
              </a:highlight>
            </a:endParaRPr>
          </a:p>
          <a:p>
            <a:pPr indent="-292100" lvl="0" marL="457200" rtl="0" algn="l">
              <a:spcBef>
                <a:spcPts val="0"/>
              </a:spcBef>
              <a:spcAft>
                <a:spcPts val="0"/>
              </a:spcAft>
              <a:buClr>
                <a:srgbClr val="1F2D4E"/>
              </a:buClr>
              <a:buSzPct val="100000"/>
              <a:buFont typeface="Arial"/>
              <a:buChar char="●"/>
            </a:pPr>
            <a:r>
              <a:rPr lang="en" sz="4000">
                <a:highlight>
                  <a:schemeClr val="lt1"/>
                </a:highlight>
              </a:rPr>
              <a:t>Claudia — 4.36 (14 participants)</a:t>
            </a:r>
            <a:endParaRPr sz="4000">
              <a:highlight>
                <a:schemeClr val="lt1"/>
              </a:highlight>
            </a:endParaRPr>
          </a:p>
          <a:p>
            <a:pPr indent="0" lvl="0" marL="0" rtl="0" algn="l">
              <a:lnSpc>
                <a:spcPct val="150000"/>
              </a:lnSpc>
              <a:spcBef>
                <a:spcPts val="900"/>
              </a:spcBef>
              <a:spcAft>
                <a:spcPts val="0"/>
              </a:spcAft>
              <a:buClr>
                <a:schemeClr val="dk1"/>
              </a:buClr>
              <a:buSzPct val="27500"/>
              <a:buFont typeface="Arial"/>
              <a:buNone/>
            </a:pPr>
            <a:r>
              <a:rPr lang="en" sz="4000">
                <a:highlight>
                  <a:schemeClr val="lt1"/>
                </a:highlight>
              </a:rPr>
              <a:t>Note: Facilitators with fewer than 10 participants excluded from performance comparison due to insufficient sample size for meaningful analysis.</a:t>
            </a:r>
            <a:endParaRPr sz="4000">
              <a:highlight>
                <a:schemeClr val="lt1"/>
              </a:highlight>
            </a:endParaRPr>
          </a:p>
          <a:p>
            <a:pPr indent="0" lvl="0" marL="0" rtl="0" algn="l">
              <a:lnSpc>
                <a:spcPct val="150000"/>
              </a:lnSpc>
              <a:spcBef>
                <a:spcPts val="0"/>
              </a:spcBef>
              <a:spcAft>
                <a:spcPts val="0"/>
              </a:spcAft>
              <a:buNone/>
            </a:pPr>
            <a:r>
              <a:t/>
            </a:r>
            <a:endParaRPr sz="4000">
              <a:highlight>
                <a:schemeClr val="lt1"/>
              </a:highlight>
            </a:endParaRPr>
          </a:p>
          <a:p>
            <a:pPr indent="0" lvl="0" marL="0" rtl="0" algn="l">
              <a:lnSpc>
                <a:spcPct val="150000"/>
              </a:lnSpc>
              <a:spcBef>
                <a:spcPts val="0"/>
              </a:spcBef>
              <a:spcAft>
                <a:spcPts val="0"/>
              </a:spcAft>
              <a:buClr>
                <a:schemeClr val="dk1"/>
              </a:buClr>
              <a:buSzPct val="27500"/>
              <a:buFont typeface="Arial"/>
              <a:buNone/>
            </a:pPr>
            <a:r>
              <a:rPr lang="en" sz="4000">
                <a:highlight>
                  <a:schemeClr val="lt1"/>
                </a:highlight>
              </a:rPr>
              <a:t>Key Insight: Juan facilitated 22% of all sessions (257 participants), primarily at the high school level. His preparedness score of 4.52 is consistent with the district-wide pattern of lower scores at the high school grade band, suggesting his results reflect the challenges of high school content PD rather than facilitation quality. Analysis should control for grade level before drawing conclusions about individual facilitator performance.</a:t>
            </a:r>
            <a:endParaRPr sz="4000">
              <a:highlight>
                <a:schemeClr val="lt1"/>
              </a:highlight>
            </a:endParaRPr>
          </a:p>
          <a:p>
            <a:pPr indent="0" lvl="0" marL="0" rtl="0" algn="l">
              <a:lnSpc>
                <a:spcPct val="150000"/>
              </a:lnSpc>
              <a:spcBef>
                <a:spcPts val="0"/>
              </a:spcBef>
              <a:spcAft>
                <a:spcPts val="0"/>
              </a:spcAft>
              <a:buNone/>
            </a:pPr>
            <a:r>
              <a:t/>
            </a:r>
            <a:endParaRPr sz="4000">
              <a:highlight>
                <a:schemeClr val="lt1"/>
              </a:highlight>
            </a:endParaRPr>
          </a:p>
          <a:p>
            <a:pPr indent="0" lvl="0" marL="0" rtl="0" algn="l">
              <a:lnSpc>
                <a:spcPct val="150000"/>
              </a:lnSpc>
              <a:spcBef>
                <a:spcPts val="0"/>
              </a:spcBef>
              <a:spcAft>
                <a:spcPts val="0"/>
              </a:spcAft>
              <a:buClr>
                <a:schemeClr val="dk1"/>
              </a:buClr>
              <a:buSzPct val="27500"/>
              <a:buFont typeface="Arial"/>
              <a:buNone/>
            </a:pPr>
            <a:r>
              <a:rPr lang="en" sz="4000">
                <a:highlight>
                  <a:schemeClr val="lt1"/>
                </a:highlight>
              </a:rPr>
              <a:t>Recommendation: When evaluating facilitator performance, disaggregate scores by grade level band to ensure fair comparison. A facilitator working exclusively with high school teachers should be benchmarked against other high school facilitators, not the district-wide average.</a:t>
            </a:r>
            <a:endParaRPr sz="4000">
              <a:highlight>
                <a:schemeClr val="lt1"/>
              </a:highlight>
            </a:endParaRPr>
          </a:p>
          <a:p>
            <a:pPr indent="0" lvl="0" marL="0" rtl="0" algn="l">
              <a:spcBef>
                <a:spcPts val="0"/>
              </a:spcBef>
              <a:spcAft>
                <a:spcPts val="0"/>
              </a:spcAft>
              <a:buClr>
                <a:schemeClr val="dk1"/>
              </a:buClr>
              <a:buSzPct val="100000"/>
              <a:buFont typeface="Arial"/>
              <a:buNone/>
            </a:pPr>
            <a:r>
              <a:t/>
            </a:r>
            <a:endParaRPr sz="1100">
              <a:solidFill>
                <a:schemeClr val="dk1"/>
              </a:solidFill>
            </a:endParaRPr>
          </a:p>
          <a:p>
            <a:pPr indent="0" lvl="0" marL="0" rtl="0" algn="l">
              <a:spcBef>
                <a:spcPts val="1200"/>
              </a:spcBef>
              <a:spcAft>
                <a:spcPts val="0"/>
              </a:spcAft>
              <a:buNone/>
            </a:pPr>
            <a:r>
              <a:t/>
            </a:r>
            <a:endParaRPr sz="1600">
              <a:solidFill>
                <a:srgbClr val="434343"/>
              </a:solidFill>
            </a:endParaRPr>
          </a:p>
          <a:p>
            <a:pPr indent="0" lvl="0" marL="0" rtl="0" algn="l">
              <a:spcBef>
                <a:spcPts val="1200"/>
              </a:spcBef>
              <a:spcAft>
                <a:spcPts val="0"/>
              </a:spcAft>
              <a:buClr>
                <a:schemeClr val="dk1"/>
              </a:buClr>
              <a:buSzPct val="61111"/>
              <a:buFont typeface="Arial"/>
              <a:buNone/>
            </a:pPr>
            <a:r>
              <a:t/>
            </a:r>
            <a:endParaRPr>
              <a:solidFill>
                <a:srgbClr val="434343"/>
              </a:solidFill>
            </a:endParaRPr>
          </a:p>
          <a:p>
            <a:pPr indent="0" lvl="0" marL="0" rtl="0" algn="l">
              <a:spcBef>
                <a:spcPts val="1200"/>
              </a:spcBef>
              <a:spcAft>
                <a:spcPts val="1200"/>
              </a:spcAft>
              <a:buNone/>
            </a:pPr>
            <a:r>
              <a:t/>
            </a:r>
            <a:endParaRPr>
              <a:solidFill>
                <a:srgbClr val="434343"/>
              </a:solidFill>
            </a:endParaRPr>
          </a:p>
        </p:txBody>
      </p:sp>
      <p:pic>
        <p:nvPicPr>
          <p:cNvPr id="89" name="Google Shape;89;p18" title="Screenshot 2026-03-05 at 11.19.06 AM.png"/>
          <p:cNvPicPr preferRelativeResize="0"/>
          <p:nvPr/>
        </p:nvPicPr>
        <p:blipFill>
          <a:blip r:embed="rId3">
            <a:alphaModFix/>
          </a:blip>
          <a:stretch>
            <a:fillRect/>
          </a:stretch>
        </p:blipFill>
        <p:spPr>
          <a:xfrm>
            <a:off x="5177425" y="211815"/>
            <a:ext cx="3775275" cy="228503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19"/>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SzPts val="990"/>
              <a:buNone/>
            </a:pPr>
            <a:r>
              <a:rPr lang="en" sz="2220"/>
              <a:t>Key Finding 4: Session Analysis</a:t>
            </a:r>
            <a:endParaRPr sz="2220"/>
          </a:p>
        </p:txBody>
      </p:sp>
      <p:pic>
        <p:nvPicPr>
          <p:cNvPr id="95" name="Google Shape;95;p19" title="Screenshot 2026-03-05 at 11.21.32 AM.png"/>
          <p:cNvPicPr preferRelativeResize="0"/>
          <p:nvPr/>
        </p:nvPicPr>
        <p:blipFill rotWithShape="1">
          <a:blip r:embed="rId3">
            <a:alphaModFix/>
          </a:blip>
          <a:srcRect b="1710" l="0" r="1147" t="0"/>
          <a:stretch/>
        </p:blipFill>
        <p:spPr>
          <a:xfrm>
            <a:off x="496850" y="1067825"/>
            <a:ext cx="3954074" cy="3358049"/>
          </a:xfrm>
          <a:prstGeom prst="rect">
            <a:avLst/>
          </a:prstGeom>
          <a:noFill/>
          <a:ln>
            <a:noFill/>
          </a:ln>
        </p:spPr>
      </p:pic>
      <p:sp>
        <p:nvSpPr>
          <p:cNvPr id="96" name="Google Shape;96;p19"/>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
              <a:t>Key Insight: G9-G12 Curriculum sessions scored lowest on preparedness (4.54) — consistent with the high school grade band finding. This confirms that high school PD sessions need targeted improvement, not just at the facilitator level but at the curriculum design level.</a:t>
            </a:r>
            <a:endParaRPr/>
          </a:p>
          <a:p>
            <a:pPr indent="0" lvl="0" marL="0" rtl="0" algn="l">
              <a:spcBef>
                <a:spcPts val="1200"/>
              </a:spcBef>
              <a:spcAft>
                <a:spcPts val="1200"/>
              </a:spcAft>
              <a:buClr>
                <a:schemeClr val="dk1"/>
              </a:buClr>
              <a:buSzPts val="1100"/>
              <a:buFont typeface="Arial"/>
              <a:buNone/>
            </a:pPr>
            <a:r>
              <a:rPr lang="en"/>
              <a:t>Recommendation: Redesign G9-G12 curriculum content and review facilitator assignments for high school sessions.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0"/>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1200"/>
              </a:spcAft>
              <a:buClr>
                <a:schemeClr val="dk1"/>
              </a:buClr>
              <a:buSzPts val="1100"/>
              <a:buFont typeface="Arial"/>
              <a:buNone/>
            </a:pPr>
            <a:r>
              <a:rPr lang="en" sz="2200"/>
              <a:t>Recommendations: Grade Level &amp; Content</a:t>
            </a:r>
            <a:endParaRPr sz="2200"/>
          </a:p>
        </p:txBody>
      </p:sp>
      <p:sp>
        <p:nvSpPr>
          <p:cNvPr id="102" name="Google Shape;102;p20"/>
          <p:cNvSpPr txBox="1"/>
          <p:nvPr>
            <p:ph idx="1" type="body"/>
          </p:nvPr>
        </p:nvSpPr>
        <p:spPr>
          <a:xfrm>
            <a:off x="311700" y="1132275"/>
            <a:ext cx="8520600" cy="3416400"/>
          </a:xfrm>
          <a:prstGeom prst="rect">
            <a:avLst/>
          </a:prstGeom>
        </p:spPr>
        <p:txBody>
          <a:bodyPr anchorCtr="0" anchor="t" bIns="91425" lIns="91425" spcFirstLastPara="1" rIns="91425" wrap="square" tIns="91425">
            <a:normAutofit/>
          </a:bodyPr>
          <a:lstStyle/>
          <a:p>
            <a:pPr indent="0" lvl="0" marL="457200" rtl="0" algn="l">
              <a:spcBef>
                <a:spcPts val="1200"/>
              </a:spcBef>
              <a:spcAft>
                <a:spcPts val="0"/>
              </a:spcAft>
              <a:buNone/>
            </a:pPr>
            <a:r>
              <a:t/>
            </a:r>
            <a:endParaRPr b="1" sz="1100"/>
          </a:p>
          <a:p>
            <a:pPr indent="-298450" lvl="0" marL="457200" rtl="0" algn="l">
              <a:spcBef>
                <a:spcPts val="1200"/>
              </a:spcBef>
              <a:spcAft>
                <a:spcPts val="0"/>
              </a:spcAft>
              <a:buSzPts val="1100"/>
              <a:buAutoNum type="arabicPeriod"/>
            </a:pPr>
            <a:r>
              <a:rPr b="1" lang="en" sz="1100"/>
              <a:t>Differentiate PD for high school teachers</a:t>
            </a:r>
            <a:r>
              <a:rPr lang="en" sz="1100"/>
              <a:t> — High school participants consistently scored lower on both feedback (4.56) and preparedness (4.54). Develop PD content specifically designed for high school instructional contexts.</a:t>
            </a:r>
            <a:endParaRPr b="1" sz="1100"/>
          </a:p>
          <a:p>
            <a:pPr indent="0" lvl="0" marL="457200" rtl="0" algn="l">
              <a:spcBef>
                <a:spcPts val="1200"/>
              </a:spcBef>
              <a:spcAft>
                <a:spcPts val="0"/>
              </a:spcAft>
              <a:buNone/>
            </a:pPr>
            <a:r>
              <a:t/>
            </a:r>
            <a:endParaRPr b="1" sz="1100"/>
          </a:p>
          <a:p>
            <a:pPr indent="-298450" lvl="0" marL="457200" rtl="0" algn="l">
              <a:spcBef>
                <a:spcPts val="1200"/>
              </a:spcBef>
              <a:spcAft>
                <a:spcPts val="0"/>
              </a:spcAft>
              <a:buSzPts val="1100"/>
              <a:buAutoNum type="arabicPeriod"/>
            </a:pPr>
            <a:r>
              <a:rPr b="1" lang="en" sz="1100"/>
              <a:t>Redesign Social Studies and Special Education PD content</a:t>
            </a:r>
            <a:r>
              <a:rPr lang="en" sz="1100"/>
              <a:t> — Both scored below district average (Social Studies 4.45, Special Education 4.51). Review curriculum design and facilitator assignments for these areas.</a:t>
            </a:r>
            <a:endParaRPr sz="1100"/>
          </a:p>
          <a:p>
            <a:pPr indent="0" lvl="0" marL="457200" rtl="0" algn="l">
              <a:spcBef>
                <a:spcPts val="1200"/>
              </a:spcBef>
              <a:spcAft>
                <a:spcPts val="0"/>
              </a:spcAft>
              <a:buNone/>
            </a:pPr>
            <a:r>
              <a:t/>
            </a:r>
            <a:endParaRPr b="1" sz="1100"/>
          </a:p>
          <a:p>
            <a:pPr indent="-298450" lvl="0" marL="457200" rtl="0" algn="l">
              <a:spcBef>
                <a:spcPts val="1200"/>
              </a:spcBef>
              <a:spcAft>
                <a:spcPts val="0"/>
              </a:spcAft>
              <a:buSzPts val="1100"/>
              <a:buAutoNum type="arabicPeriod"/>
            </a:pPr>
            <a:r>
              <a:rPr b="1" lang="en" sz="1100"/>
              <a:t>Use Summer School General and PreK sessions as models</a:t>
            </a:r>
            <a:r>
              <a:rPr lang="en" sz="1100"/>
              <a:t> — Highest rated sessions (4.73 and 4.70) should inform redesign of lower-performing content areas.</a:t>
            </a:r>
            <a:endParaRPr sz="1100"/>
          </a:p>
          <a:p>
            <a:pPr indent="0" lvl="0" marL="0" rtl="0" algn="l">
              <a:spcBef>
                <a:spcPts val="120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2200"/>
              <a:t>Recommendations: Facilitators</a:t>
            </a:r>
            <a:endParaRPr sz="2200"/>
          </a:p>
          <a:p>
            <a:pPr indent="0" lvl="0" marL="0" rtl="0" algn="l">
              <a:spcBef>
                <a:spcPts val="1200"/>
              </a:spcBef>
              <a:spcAft>
                <a:spcPts val="0"/>
              </a:spcAft>
              <a:buNone/>
            </a:pPr>
            <a:r>
              <a:t/>
            </a:r>
            <a:endParaRPr b="1" sz="1100">
              <a:solidFill>
                <a:schemeClr val="dk1"/>
              </a:solidFill>
            </a:endParaRPr>
          </a:p>
        </p:txBody>
      </p:sp>
      <p:sp>
        <p:nvSpPr>
          <p:cNvPr id="108" name="Google Shape;108;p21"/>
          <p:cNvSpPr txBox="1"/>
          <p:nvPr>
            <p:ph idx="1" type="body"/>
          </p:nvPr>
        </p:nvSpPr>
        <p:spPr>
          <a:xfrm>
            <a:off x="311700" y="1132275"/>
            <a:ext cx="85206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Clr>
                <a:srgbClr val="1F2D4E"/>
              </a:buClr>
              <a:buSzPts val="1100"/>
              <a:buAutoNum type="arabicPeriod"/>
            </a:pPr>
            <a:r>
              <a:rPr b="1" lang="en" sz="1100"/>
              <a:t>Implement facilitator support for lowest performers</a:t>
            </a:r>
            <a:r>
              <a:rPr lang="en" sz="1100"/>
              <a:t> — Raul (4.14), Robert (4.31), and Claudia (4.36) would benefit from coaching or mentoring.</a:t>
            </a:r>
            <a:endParaRPr sz="1100"/>
          </a:p>
          <a:p>
            <a:pPr indent="0" lvl="0" marL="457200" rtl="0" algn="l">
              <a:spcBef>
                <a:spcPts val="1200"/>
              </a:spcBef>
              <a:spcAft>
                <a:spcPts val="0"/>
              </a:spcAft>
              <a:buNone/>
            </a:pPr>
            <a:r>
              <a:t/>
            </a:r>
            <a:endParaRPr sz="1100"/>
          </a:p>
          <a:p>
            <a:pPr indent="-298450" lvl="0" marL="457200" rtl="0" algn="l">
              <a:spcBef>
                <a:spcPts val="1200"/>
              </a:spcBef>
              <a:spcAft>
                <a:spcPts val="0"/>
              </a:spcAft>
              <a:buClr>
                <a:srgbClr val="1F2D4E"/>
              </a:buClr>
              <a:buSzPts val="1100"/>
              <a:buAutoNum type="arabicPeriod"/>
            </a:pPr>
            <a:r>
              <a:rPr b="1" lang="en" sz="1100"/>
              <a:t>Control for grade level in facilitator evaluations</a:t>
            </a:r>
            <a:r>
              <a:rPr lang="en" sz="1100"/>
              <a:t> — Facilitators working primarily with high school teachers should be benchmarked against other high school facilitators, not the district-wide average.</a:t>
            </a:r>
            <a:endParaRPr sz="1100"/>
          </a:p>
          <a:p>
            <a:pPr indent="0" lvl="0" marL="457200" rtl="0" algn="l">
              <a:spcBef>
                <a:spcPts val="1200"/>
              </a:spcBef>
              <a:spcAft>
                <a:spcPts val="0"/>
              </a:spcAft>
              <a:buNone/>
            </a:pPr>
            <a:r>
              <a:t/>
            </a:r>
            <a:endParaRPr sz="1100"/>
          </a:p>
          <a:p>
            <a:pPr indent="-298450" lvl="0" marL="457200" rtl="0" algn="l">
              <a:spcBef>
                <a:spcPts val="1200"/>
              </a:spcBef>
              <a:spcAft>
                <a:spcPts val="0"/>
              </a:spcAft>
              <a:buClr>
                <a:srgbClr val="1F2D4E"/>
              </a:buClr>
              <a:buSzPts val="1100"/>
              <a:buAutoNum type="arabicPeriod"/>
            </a:pPr>
            <a:r>
              <a:rPr b="1" lang="en" sz="1100"/>
              <a:t>Review high-volume facilitator workloads</a:t>
            </a:r>
            <a:r>
              <a:rPr lang="en" sz="1100"/>
              <a:t> — Monitor quality vs. quantity tradeoffs for facilitators with disproportionately high session loads.</a:t>
            </a:r>
            <a:endParaRPr sz="1100"/>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2"/>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sz="2200"/>
              <a:t>Recommendations: Data Collection</a:t>
            </a:r>
            <a:endParaRPr sz="2200"/>
          </a:p>
          <a:p>
            <a:pPr indent="0" lvl="0" marL="0" rtl="0" algn="l">
              <a:spcBef>
                <a:spcPts val="1200"/>
              </a:spcBef>
              <a:spcAft>
                <a:spcPts val="0"/>
              </a:spcAft>
              <a:buNone/>
            </a:pPr>
            <a:r>
              <a:t/>
            </a:r>
            <a:endParaRPr/>
          </a:p>
        </p:txBody>
      </p:sp>
      <p:sp>
        <p:nvSpPr>
          <p:cNvPr id="114" name="Google Shape;114;p22"/>
          <p:cNvSpPr txBox="1"/>
          <p:nvPr>
            <p:ph idx="1" type="body"/>
          </p:nvPr>
        </p:nvSpPr>
        <p:spPr>
          <a:xfrm>
            <a:off x="311700" y="1132275"/>
            <a:ext cx="8520600" cy="3416400"/>
          </a:xfrm>
          <a:prstGeom prst="rect">
            <a:avLst/>
          </a:prstGeom>
        </p:spPr>
        <p:txBody>
          <a:bodyPr anchorCtr="0" anchor="t" bIns="91425" lIns="91425" spcFirstLastPara="1" rIns="91425" wrap="square" tIns="91425">
            <a:normAutofit/>
          </a:bodyPr>
          <a:lstStyle/>
          <a:p>
            <a:pPr indent="-298450" lvl="0" marL="457200" rtl="0" algn="l">
              <a:spcBef>
                <a:spcPts val="1200"/>
              </a:spcBef>
              <a:spcAft>
                <a:spcPts val="0"/>
              </a:spcAft>
              <a:buSzPts val="1100"/>
              <a:buAutoNum type="arabicPeriod"/>
            </a:pPr>
            <a:r>
              <a:rPr b="1" lang="en" sz="1100"/>
              <a:t>Redesign G9-G12 curriculum content</a:t>
            </a:r>
            <a:r>
              <a:rPr lang="en" sz="1100"/>
              <a:t> — Lowest preparedness scores at the session level confirm high school PD needs improvement at both the facilitator and curriculum design level.</a:t>
            </a:r>
            <a:endParaRPr sz="1100"/>
          </a:p>
          <a:p>
            <a:pPr indent="0" lvl="0" marL="457200" rtl="0" algn="l">
              <a:spcBef>
                <a:spcPts val="1200"/>
              </a:spcBef>
              <a:spcAft>
                <a:spcPts val="0"/>
              </a:spcAft>
              <a:buNone/>
            </a:pPr>
            <a:r>
              <a:t/>
            </a:r>
            <a:endParaRPr sz="1100"/>
          </a:p>
          <a:p>
            <a:pPr indent="-298450" lvl="0" marL="457200" rtl="0" algn="l">
              <a:spcBef>
                <a:spcPts val="1200"/>
              </a:spcBef>
              <a:spcAft>
                <a:spcPts val="0"/>
              </a:spcAft>
              <a:buSzPts val="1100"/>
              <a:buAutoNum type="arabicPeriod"/>
            </a:pPr>
            <a:r>
              <a:rPr b="1" lang="en" sz="1100"/>
              <a:t>Restructure Content Focus data collection</a:t>
            </a:r>
            <a:r>
              <a:rPr lang="en" sz="1100"/>
              <a:t> — Replace free-text field with a dual-field approach:</a:t>
            </a:r>
            <a:endParaRPr sz="1100"/>
          </a:p>
          <a:p>
            <a:pPr indent="-298450" lvl="1" marL="914400" rtl="0" algn="l">
              <a:spcBef>
                <a:spcPts val="0"/>
              </a:spcBef>
              <a:spcAft>
                <a:spcPts val="0"/>
              </a:spcAft>
              <a:buSzPts val="1100"/>
              <a:buAutoNum type="alphaLcPeriod"/>
            </a:pPr>
            <a:r>
              <a:rPr lang="en" sz="1100"/>
              <a:t>Content Category (dropdown) for standardized reporting</a:t>
            </a:r>
            <a:endParaRPr sz="1100"/>
          </a:p>
          <a:p>
            <a:pPr indent="-298450" lvl="1" marL="914400" rtl="0" algn="l">
              <a:spcBef>
                <a:spcPts val="0"/>
              </a:spcBef>
              <a:spcAft>
                <a:spcPts val="0"/>
              </a:spcAft>
              <a:buSzPts val="1100"/>
              <a:buAutoNum type="alphaLcPeriod"/>
            </a:pPr>
            <a:r>
              <a:rPr lang="en" sz="1100"/>
              <a:t>Exact Course Title (free-text) for deeper drill-down analysis</a:t>
            </a:r>
            <a:endParaRPr sz="1100"/>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Clr>
                <a:schemeClr val="dk1"/>
              </a:buClr>
              <a:buSzPct val="45833"/>
              <a:buFont typeface="Arial"/>
              <a:buNone/>
            </a:pPr>
            <a:r>
              <a:rPr lang="en" sz="2400"/>
              <a:t>Data Quality: Strengths</a:t>
            </a:r>
            <a:endParaRPr sz="2400"/>
          </a:p>
          <a:p>
            <a:pPr indent="0" lvl="0" marL="0" rtl="0" algn="l">
              <a:lnSpc>
                <a:spcPct val="115000"/>
              </a:lnSpc>
              <a:spcBef>
                <a:spcPts val="1200"/>
              </a:spcBef>
              <a:spcAft>
                <a:spcPts val="0"/>
              </a:spcAft>
              <a:buClr>
                <a:schemeClr val="dk1"/>
              </a:buClr>
              <a:buSzPct val="100000"/>
              <a:buFont typeface="Arial"/>
              <a:buNone/>
            </a:pPr>
            <a:r>
              <a:t/>
            </a:r>
            <a:endParaRPr b="1" sz="1100"/>
          </a:p>
          <a:p>
            <a:pPr indent="0" lvl="0" marL="0" rtl="0" algn="l">
              <a:spcBef>
                <a:spcPts val="0"/>
              </a:spcBef>
              <a:spcAft>
                <a:spcPts val="0"/>
              </a:spcAft>
              <a:buNone/>
            </a:pPr>
            <a:r>
              <a:t/>
            </a:r>
            <a:endParaRPr/>
          </a:p>
        </p:txBody>
      </p:sp>
      <p:sp>
        <p:nvSpPr>
          <p:cNvPr id="120" name="Google Shape;120;p23"/>
          <p:cNvSpPr txBox="1"/>
          <p:nvPr>
            <p:ph idx="1" type="body"/>
          </p:nvPr>
        </p:nvSpPr>
        <p:spPr>
          <a:xfrm>
            <a:off x="311700" y="11322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1200"/>
              </a:spcBef>
              <a:spcAft>
                <a:spcPts val="0"/>
              </a:spcAft>
              <a:buNone/>
            </a:pPr>
            <a:r>
              <a:rPr lang="en" sz="1100"/>
              <a:t>Overall Assessment: Strong</a:t>
            </a:r>
            <a:endParaRPr sz="1100"/>
          </a:p>
          <a:p>
            <a:pPr indent="0" lvl="0" marL="0" rtl="0" algn="l">
              <a:spcBef>
                <a:spcPts val="1200"/>
              </a:spcBef>
              <a:spcAft>
                <a:spcPts val="0"/>
              </a:spcAft>
              <a:buNone/>
            </a:pPr>
            <a:r>
              <a:rPr lang="en" sz="1100"/>
              <a:t>The high completion rate across all required fields reflects effective data collection practices and supports confidence in the findings presented in this analysis.</a:t>
            </a:r>
            <a:endParaRPr sz="1100"/>
          </a:p>
          <a:p>
            <a:pPr indent="0" lvl="0" marL="0" rtl="0" algn="l">
              <a:spcBef>
                <a:spcPts val="1200"/>
              </a:spcBef>
              <a:spcAft>
                <a:spcPts val="0"/>
              </a:spcAft>
              <a:buNone/>
            </a:pPr>
            <a:r>
              <a:rPr lang="en" sz="1100"/>
              <a:t>100% Field Completion Across All 1,149 Responses:</a:t>
            </a:r>
            <a:endParaRPr sz="1100"/>
          </a:p>
          <a:p>
            <a:pPr indent="-298450" lvl="0" marL="457200" rtl="0" algn="l">
              <a:spcBef>
                <a:spcPts val="1200"/>
              </a:spcBef>
              <a:spcAft>
                <a:spcPts val="0"/>
              </a:spcAft>
              <a:buClr>
                <a:srgbClr val="1F2D4E"/>
              </a:buClr>
              <a:buSzPts val="1100"/>
              <a:buChar char="●"/>
            </a:pPr>
            <a:r>
              <a:rPr lang="en" sz="1100"/>
              <a:t>Facilitator — fully completed</a:t>
            </a:r>
            <a:endParaRPr sz="1100"/>
          </a:p>
          <a:p>
            <a:pPr indent="-298450" lvl="0" marL="457200" rtl="0" algn="l">
              <a:spcBef>
                <a:spcPts val="0"/>
              </a:spcBef>
              <a:spcAft>
                <a:spcPts val="0"/>
              </a:spcAft>
              <a:buClr>
                <a:srgbClr val="1F2D4E"/>
              </a:buClr>
              <a:buSzPts val="1100"/>
              <a:buChar char="●"/>
            </a:pPr>
            <a:r>
              <a:rPr lang="en" sz="1100"/>
              <a:t>Campus Name — fully completed</a:t>
            </a:r>
            <a:endParaRPr sz="1100"/>
          </a:p>
          <a:p>
            <a:pPr indent="-298450" lvl="0" marL="457200" rtl="0" algn="l">
              <a:spcBef>
                <a:spcPts val="0"/>
              </a:spcBef>
              <a:spcAft>
                <a:spcPts val="0"/>
              </a:spcAft>
              <a:buClr>
                <a:srgbClr val="1F2D4E"/>
              </a:buClr>
              <a:buSzPts val="1100"/>
              <a:buChar char="●"/>
            </a:pPr>
            <a:r>
              <a:rPr lang="en" sz="1100"/>
              <a:t>Key Lesson and Implementation — fully completed</a:t>
            </a:r>
            <a:endParaRPr sz="1100"/>
          </a:p>
          <a:p>
            <a:pPr indent="-298450" lvl="0" marL="457200" rtl="0" algn="l">
              <a:spcBef>
                <a:spcPts val="0"/>
              </a:spcBef>
              <a:spcAft>
                <a:spcPts val="0"/>
              </a:spcAft>
              <a:buClr>
                <a:srgbClr val="1F2D4E"/>
              </a:buClr>
              <a:buSzPts val="1100"/>
              <a:buChar char="●"/>
            </a:pPr>
            <a:r>
              <a:rPr lang="en" sz="1100"/>
              <a:t>Clarity, Value, Engaging, Confidence, Preparedness — all fully completed</a:t>
            </a:r>
            <a:endParaRPr sz="1100"/>
          </a:p>
          <a:p>
            <a:pPr indent="0" lvl="0" marL="0" rtl="0" algn="l">
              <a:spcBef>
                <a:spcPts val="1200"/>
              </a:spcBef>
              <a:spcAft>
                <a:spcPts val="0"/>
              </a:spcAft>
              <a:buNone/>
            </a:pPr>
            <a:r>
              <a:rPr lang="en" sz="1100"/>
              <a:t>This level of data completeness is a positive indicator of survey design effectiveness and participant engagement with the PD program evaluation process.</a:t>
            </a:r>
            <a:endParaRPr sz="1100"/>
          </a:p>
          <a:p>
            <a:pPr indent="0" lvl="0" marL="0" rtl="0" algn="l">
              <a:spcBef>
                <a:spcPts val="1200"/>
              </a:spcBef>
              <a:spcAft>
                <a:spcPts val="0"/>
              </a:spcAft>
              <a:buNone/>
            </a:pPr>
            <a:r>
              <a:t/>
            </a:r>
            <a:endParaRPr b="1" sz="1100"/>
          </a:p>
          <a:p>
            <a:pPr indent="0" lvl="0" marL="457200" rtl="0" algn="l">
              <a:spcBef>
                <a:spcPts val="1200"/>
              </a:spcBef>
              <a:spcAft>
                <a:spcPts val="0"/>
              </a:spcAft>
              <a:buNone/>
            </a:pPr>
            <a:r>
              <a:t/>
            </a:r>
            <a:endParaRPr/>
          </a:p>
          <a:p>
            <a:pPr indent="0" lvl="0" marL="0" rtl="0" algn="l">
              <a:spcBef>
                <a:spcPts val="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t>Data Quality: Opportunities &amp; Recommendations</a:t>
            </a:r>
            <a:endParaRPr sz="2200"/>
          </a:p>
        </p:txBody>
      </p:sp>
      <p:sp>
        <p:nvSpPr>
          <p:cNvPr id="126" name="Google Shape;126;p24"/>
          <p:cNvSpPr txBox="1"/>
          <p:nvPr>
            <p:ph idx="1" type="body"/>
          </p:nvPr>
        </p:nvSpPr>
        <p:spPr>
          <a:xfrm>
            <a:off x="311700" y="11322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None/>
            </a:pPr>
            <a:r>
              <a:rPr lang="en" sz="1100"/>
              <a:t>Opportunity for Improvement:</a:t>
            </a:r>
            <a:endParaRPr sz="1100"/>
          </a:p>
          <a:p>
            <a:pPr indent="-298450" lvl="0" marL="457200" rtl="0" algn="l">
              <a:spcBef>
                <a:spcPts val="1200"/>
              </a:spcBef>
              <a:spcAft>
                <a:spcPts val="0"/>
              </a:spcAft>
              <a:buClr>
                <a:srgbClr val="1F2D4E"/>
              </a:buClr>
              <a:buSzPts val="1100"/>
              <a:buChar char="●"/>
            </a:pPr>
            <a:r>
              <a:rPr lang="en" sz="1100"/>
              <a:t>Content Focus was collected as free-text, resulting in 164 unique entries requiring significant standardization during analysis</a:t>
            </a:r>
            <a:endParaRPr sz="1100"/>
          </a:p>
          <a:p>
            <a:pPr indent="0" lvl="0" marL="0" rtl="0" algn="l">
              <a:spcBef>
                <a:spcPts val="1200"/>
              </a:spcBef>
              <a:spcAft>
                <a:spcPts val="0"/>
              </a:spcAft>
              <a:buNone/>
            </a:pPr>
            <a:r>
              <a:rPr lang="en" sz="1100"/>
              <a:t>Recommendation — Restructure Content Focus into two fields:</a:t>
            </a:r>
            <a:endParaRPr sz="1100"/>
          </a:p>
          <a:p>
            <a:pPr indent="-298450" lvl="0" marL="457200" rtl="0" algn="l">
              <a:spcBef>
                <a:spcPts val="1200"/>
              </a:spcBef>
              <a:spcAft>
                <a:spcPts val="0"/>
              </a:spcAft>
              <a:buClr>
                <a:srgbClr val="1F2D4E"/>
              </a:buClr>
              <a:buSzPts val="1100"/>
              <a:buChar char="●"/>
            </a:pPr>
            <a:r>
              <a:rPr lang="en" sz="1100"/>
              <a:t>Content Category (dropdown) — Standardized categories such as Mathematics, ELAR/English, and Science for consistent high-level analysis and reporting</a:t>
            </a:r>
            <a:endParaRPr sz="1100"/>
          </a:p>
          <a:p>
            <a:pPr indent="-298450" lvl="0" marL="457200" rtl="0" algn="l">
              <a:spcBef>
                <a:spcPts val="0"/>
              </a:spcBef>
              <a:spcAft>
                <a:spcPts val="0"/>
              </a:spcAft>
              <a:buClr>
                <a:srgbClr val="1F2D4E"/>
              </a:buClr>
              <a:buSzPts val="1100"/>
              <a:buChar char="●"/>
            </a:pPr>
            <a:r>
              <a:rPr lang="en" sz="1100"/>
              <a:t>Exact Course Title (free-text) — Preserves ability to drill down into individual course performance when needed</a:t>
            </a:r>
            <a:endParaRPr sz="1100"/>
          </a:p>
          <a:p>
            <a:pPr indent="0" lvl="0" marL="0" rtl="0" algn="l">
              <a:spcBef>
                <a:spcPts val="1200"/>
              </a:spcBef>
              <a:spcAft>
                <a:spcPts val="0"/>
              </a:spcAft>
              <a:buNone/>
            </a:pPr>
            <a:r>
              <a:rPr lang="en" sz="1100"/>
              <a:t>This dual-field approach improves data standardization and reduces analytical burden while maintaining the flexibility needed for deeper investigation. Implementing this change before the next PD cycle would significantly reduce post-collection processing time and enable more granular reporting across content areas.</a:t>
            </a:r>
            <a:endParaRPr sz="1100"/>
          </a:p>
          <a:p>
            <a:pPr indent="0" lvl="0" marL="0" rtl="0" algn="l">
              <a:spcBef>
                <a:spcPts val="1200"/>
              </a:spcBef>
              <a:spcAft>
                <a:spcPts val="0"/>
              </a:spcAft>
              <a:buClr>
                <a:schemeClr val="dk1"/>
              </a:buClr>
              <a:buSzPts val="1100"/>
              <a:buFont typeface="Arial"/>
              <a:buNone/>
            </a:pPr>
            <a:r>
              <a:t/>
            </a:r>
            <a:endParaRPr b="1" sz="1100"/>
          </a:p>
          <a:p>
            <a:pPr indent="0" lvl="0" marL="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t>Project Log: Challenges &amp; Solutions</a:t>
            </a:r>
            <a:endParaRPr sz="2200"/>
          </a:p>
        </p:txBody>
      </p:sp>
      <p:sp>
        <p:nvSpPr>
          <p:cNvPr id="132" name="Google Shape;132;p25"/>
          <p:cNvSpPr txBox="1"/>
          <p:nvPr>
            <p:ph idx="1" type="body"/>
          </p:nvPr>
        </p:nvSpPr>
        <p:spPr>
          <a:xfrm>
            <a:off x="311700" y="1132275"/>
            <a:ext cx="8520600" cy="3416400"/>
          </a:xfrm>
          <a:prstGeom prst="rect">
            <a:avLst/>
          </a:prstGeom>
        </p:spPr>
        <p:txBody>
          <a:bodyPr anchorCtr="0" anchor="t" bIns="91425" lIns="91425" spcFirstLastPara="1" rIns="91425" wrap="square" tIns="91425">
            <a:normAutofit fontScale="70000" lnSpcReduction="10000"/>
          </a:bodyPr>
          <a:lstStyle/>
          <a:p>
            <a:pPr indent="0" lvl="0" marL="0" rtl="0" algn="l">
              <a:spcBef>
                <a:spcPts val="1200"/>
              </a:spcBef>
              <a:spcAft>
                <a:spcPts val="0"/>
              </a:spcAft>
              <a:buClr>
                <a:schemeClr val="dk1"/>
              </a:buClr>
              <a:buSzPct val="61111"/>
              <a:buFont typeface="Arial"/>
              <a:buNone/>
            </a:pPr>
            <a:r>
              <a:rPr lang="en"/>
              <a:t>Challenge 1 — Platform Limitation: No access to Power BI Desktop on Mac. Adapted entire workflow to Power BI web via Microsoft Fabric, including alternative DAX syntax and manual column management.</a:t>
            </a:r>
            <a:endParaRPr/>
          </a:p>
          <a:p>
            <a:pPr indent="0" lvl="0" marL="0" rtl="0" algn="l">
              <a:spcBef>
                <a:spcPts val="1200"/>
              </a:spcBef>
              <a:spcAft>
                <a:spcPts val="0"/>
              </a:spcAft>
              <a:buClr>
                <a:schemeClr val="dk1"/>
              </a:buClr>
              <a:buSzPct val="61111"/>
              <a:buFont typeface="Arial"/>
              <a:buNone/>
            </a:pPr>
            <a:r>
              <a:rPr lang="en"/>
              <a:t>Challenge 2 — University Tenant Restrictions: Account defaulted to Viewing mode. Identified and resolved via Editing toggle in report interface.</a:t>
            </a:r>
            <a:endParaRPr/>
          </a:p>
          <a:p>
            <a:pPr indent="0" lvl="0" marL="0" rtl="0" algn="l">
              <a:spcBef>
                <a:spcPts val="1200"/>
              </a:spcBef>
              <a:spcAft>
                <a:spcPts val="0"/>
              </a:spcAft>
              <a:buClr>
                <a:schemeClr val="dk1"/>
              </a:buClr>
              <a:buSzPct val="61111"/>
              <a:buFont typeface="Arial"/>
              <a:buNone/>
            </a:pPr>
            <a:r>
              <a:rPr lang="en"/>
              <a:t>Challenge 3 — Microsoft Infrastructure Error: Large semantic model storage format caused LargeModelMovedAcrossRegions error (HTTP 400). Resolved by disabling large semantic model storage format setting and rebuilding model.</a:t>
            </a:r>
            <a:endParaRPr/>
          </a:p>
          <a:p>
            <a:pPr indent="0" lvl="0" marL="0" rtl="0" algn="l">
              <a:spcBef>
                <a:spcPts val="1200"/>
              </a:spcBef>
              <a:spcAft>
                <a:spcPts val="0"/>
              </a:spcAft>
              <a:buClr>
                <a:schemeClr val="dk1"/>
              </a:buClr>
              <a:buSzPct val="61111"/>
              <a:buFont typeface="Arial"/>
              <a:buNone/>
            </a:pPr>
            <a:r>
              <a:rPr lang="en"/>
              <a:t>Challenge 4 — Data Standardization: 164 unique free-text Content Focus entries required custom DAX SWITCH/CONTAINSSTRING formula to categorize into 10 meaningful groups.</a:t>
            </a:r>
            <a:endParaRPr/>
          </a:p>
          <a:p>
            <a:pPr indent="0" lvl="0" marL="0" rtl="0" algn="l">
              <a:spcBef>
                <a:spcPts val="1200"/>
              </a:spcBef>
              <a:spcAft>
                <a:spcPts val="0"/>
              </a:spcAft>
              <a:buClr>
                <a:schemeClr val="dk1"/>
              </a:buClr>
              <a:buSzPct val="61111"/>
              <a:buFont typeface="Arial"/>
              <a:buNone/>
            </a:pPr>
            <a:r>
              <a:rPr lang="en"/>
              <a:t>Challenge 5 — Data Quality Investigation: Apparent blank values in slicers investigated through DAX queries — confirmed as Power BI display artifacts, not actual missing data. All required fields 100% complete.</a:t>
            </a:r>
            <a:endParaRPr/>
          </a:p>
          <a:p>
            <a:pPr indent="0" lvl="0" marL="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t>Conclusion</a:t>
            </a:r>
            <a:endParaRPr sz="2200"/>
          </a:p>
        </p:txBody>
      </p:sp>
      <p:sp>
        <p:nvSpPr>
          <p:cNvPr id="138" name="Google Shape;138;p26"/>
          <p:cNvSpPr txBox="1"/>
          <p:nvPr>
            <p:ph idx="1" type="body"/>
          </p:nvPr>
        </p:nvSpPr>
        <p:spPr>
          <a:xfrm>
            <a:off x="311700" y="11322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t>Overall, HISD's Summer School PD program received strong feedback with a district average of 4.62 out of 5.0. </a:t>
            </a:r>
            <a:endParaRPr sz="1600"/>
          </a:p>
          <a:p>
            <a:pPr indent="0" lvl="0" marL="0" rtl="0" algn="l">
              <a:spcBef>
                <a:spcPts val="1200"/>
              </a:spcBef>
              <a:spcAft>
                <a:spcPts val="0"/>
              </a:spcAft>
              <a:buNone/>
            </a:pPr>
            <a:r>
              <a:rPr lang="en" sz="1600"/>
              <a:t>However, meaningful variation exists across grade levels, content areas, and facilitators that presents opportunities for targeted improvement. </a:t>
            </a:r>
            <a:endParaRPr sz="1600"/>
          </a:p>
          <a:p>
            <a:pPr indent="0" lvl="0" marL="0" rtl="0" algn="l">
              <a:spcBef>
                <a:spcPts val="1200"/>
              </a:spcBef>
              <a:spcAft>
                <a:spcPts val="0"/>
              </a:spcAft>
              <a:buNone/>
            </a:pPr>
            <a:r>
              <a:rPr lang="en" sz="1600"/>
              <a:t>High school participants and Social Studies/Special Education content areas represent the greatest opportunities for PD enhancement. </a:t>
            </a:r>
            <a:endParaRPr sz="1600"/>
          </a:p>
          <a:p>
            <a:pPr indent="0" lvl="0" marL="0" rtl="0" algn="l">
              <a:spcBef>
                <a:spcPts val="1200"/>
              </a:spcBef>
              <a:spcAft>
                <a:spcPts val="1200"/>
              </a:spcAft>
              <a:buNone/>
            </a:pPr>
            <a:r>
              <a:rPr lang="en" sz="1600"/>
              <a:t>Implementing the recommendations above would help ensure all HISD teachers receive equitable, high-quality professional development regardless of grade level or content area.</a:t>
            </a:r>
            <a:endParaRPr sz="16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200"/>
              <a:t>Appendix: Data Overview</a:t>
            </a:r>
            <a:endParaRPr sz="2200"/>
          </a:p>
        </p:txBody>
      </p:sp>
      <p:sp>
        <p:nvSpPr>
          <p:cNvPr id="144" name="Google Shape;144;p27"/>
          <p:cNvSpPr txBox="1"/>
          <p:nvPr>
            <p:ph idx="1" type="body"/>
          </p:nvPr>
        </p:nvSpPr>
        <p:spPr>
          <a:xfrm>
            <a:off x="311700" y="1148975"/>
            <a:ext cx="8520600" cy="3416400"/>
          </a:xfrm>
          <a:prstGeom prst="rect">
            <a:avLst/>
          </a:prstGeom>
        </p:spPr>
        <p:txBody>
          <a:bodyPr anchorCtr="0" anchor="t" bIns="91425" lIns="91425" spcFirstLastPara="1" rIns="91425" wrap="square" tIns="91425">
            <a:normAutofit/>
          </a:bodyPr>
          <a:lstStyle/>
          <a:p>
            <a:pPr indent="-298450" lvl="0" marL="457200" rtl="0" algn="l">
              <a:spcBef>
                <a:spcPts val="0"/>
              </a:spcBef>
              <a:spcAft>
                <a:spcPts val="0"/>
              </a:spcAft>
              <a:buClr>
                <a:srgbClr val="1F2D4E"/>
              </a:buClr>
              <a:buSzPts val="1100"/>
              <a:buFont typeface="Arial"/>
              <a:buChar char="●"/>
            </a:pPr>
            <a:r>
              <a:rPr lang="en" sz="1100">
                <a:highlight>
                  <a:srgbClr val="FFFFFF"/>
                </a:highlight>
              </a:rPr>
              <a:t>Total Responses: 1,149</a:t>
            </a:r>
            <a:endParaRPr sz="1100">
              <a:highlight>
                <a:srgbClr val="FFFFFF"/>
              </a:highlight>
            </a:endParaRPr>
          </a:p>
          <a:p>
            <a:pPr indent="-298450" lvl="0" marL="457200" rtl="0" algn="l">
              <a:spcBef>
                <a:spcPts val="0"/>
              </a:spcBef>
              <a:spcAft>
                <a:spcPts val="0"/>
              </a:spcAft>
              <a:buClr>
                <a:srgbClr val="1F2D4E"/>
              </a:buClr>
              <a:buSzPts val="1100"/>
              <a:buFont typeface="Arial"/>
              <a:buChar char="●"/>
            </a:pPr>
            <a:r>
              <a:rPr lang="en" sz="1100">
                <a:highlight>
                  <a:srgbClr val="FFFFFF"/>
                </a:highlight>
              </a:rPr>
              <a:t>Total Facilitators: 31</a:t>
            </a:r>
            <a:endParaRPr sz="1100">
              <a:highlight>
                <a:srgbClr val="FFFFFF"/>
              </a:highlight>
            </a:endParaRPr>
          </a:p>
          <a:p>
            <a:pPr indent="-298450" lvl="0" marL="457200" rtl="0" algn="l">
              <a:spcBef>
                <a:spcPts val="0"/>
              </a:spcBef>
              <a:spcAft>
                <a:spcPts val="0"/>
              </a:spcAft>
              <a:buClr>
                <a:srgbClr val="1F2D4E"/>
              </a:buClr>
              <a:buSzPts val="1100"/>
              <a:buFont typeface="Arial"/>
              <a:buChar char="●"/>
            </a:pPr>
            <a:r>
              <a:rPr lang="en" sz="1100">
                <a:highlight>
                  <a:srgbClr val="FFFFFF"/>
                </a:highlight>
              </a:rPr>
              <a:t>Total Campuses: 27</a:t>
            </a:r>
            <a:endParaRPr sz="1100">
              <a:highlight>
                <a:srgbClr val="FFFFFF"/>
              </a:highlight>
            </a:endParaRPr>
          </a:p>
          <a:p>
            <a:pPr indent="-298450" lvl="0" marL="457200" rtl="0" algn="l">
              <a:spcBef>
                <a:spcPts val="0"/>
              </a:spcBef>
              <a:spcAft>
                <a:spcPts val="0"/>
              </a:spcAft>
              <a:buClr>
                <a:srgbClr val="1F2D4E"/>
              </a:buClr>
              <a:buSzPts val="1100"/>
              <a:buFont typeface="Arial"/>
              <a:buChar char="●"/>
            </a:pPr>
            <a:r>
              <a:rPr lang="en" sz="1100">
                <a:highlight>
                  <a:srgbClr val="FFFFFF"/>
                </a:highlight>
              </a:rPr>
              <a:t>Grade Level Bands: Elementary (650, 56%), High (312, 27%), Middle (185, 16%)</a:t>
            </a:r>
            <a:endParaRPr sz="1100">
              <a:highlight>
                <a:srgbClr val="FFFFFF"/>
              </a:highlight>
            </a:endParaRPr>
          </a:p>
          <a:p>
            <a:pPr indent="-298450" lvl="0" marL="457200" rtl="0" algn="l">
              <a:spcBef>
                <a:spcPts val="0"/>
              </a:spcBef>
              <a:spcAft>
                <a:spcPts val="0"/>
              </a:spcAft>
              <a:buClr>
                <a:srgbClr val="1F2D4E"/>
              </a:buClr>
              <a:buSzPts val="1100"/>
              <a:buFont typeface="Arial"/>
              <a:buChar char="●"/>
            </a:pPr>
            <a:r>
              <a:rPr lang="en" sz="1100">
                <a:highlight>
                  <a:srgbClr val="FFFFFF"/>
                </a:highlight>
              </a:rPr>
              <a:t>Content Categories: 10 standardized from 164 unique entries</a:t>
            </a:r>
            <a:endParaRPr sz="1100">
              <a:highlight>
                <a:srgbClr val="FFFFFF"/>
              </a:highlight>
            </a:endParaRPr>
          </a:p>
          <a:p>
            <a:pPr indent="-298450" lvl="0" marL="457200" rtl="0" algn="l">
              <a:spcBef>
                <a:spcPts val="0"/>
              </a:spcBef>
              <a:spcAft>
                <a:spcPts val="0"/>
              </a:spcAft>
              <a:buClr>
                <a:srgbClr val="1F2D4E"/>
              </a:buClr>
              <a:buSzPts val="1100"/>
              <a:buFont typeface="Arial"/>
              <a:buChar char="●"/>
            </a:pPr>
            <a:r>
              <a:rPr lang="en" sz="1100">
                <a:highlight>
                  <a:srgbClr val="FFFFFF"/>
                </a:highlight>
              </a:rPr>
              <a:t>Session Types: 5 (G1-G2, G3-G8, G9-G12, GK Curriculum, PreK Training)</a:t>
            </a:r>
            <a:endParaRPr sz="1100">
              <a:highlight>
                <a:srgbClr val="FFFFFF"/>
              </a:highlight>
            </a:endParaRPr>
          </a:p>
          <a:p>
            <a:pPr indent="-298450" lvl="0" marL="457200" rtl="0" algn="l">
              <a:spcBef>
                <a:spcPts val="0"/>
              </a:spcBef>
              <a:spcAft>
                <a:spcPts val="0"/>
              </a:spcAft>
              <a:buClr>
                <a:srgbClr val="1F2D4E"/>
              </a:buClr>
              <a:buSzPts val="1100"/>
              <a:buFont typeface="Arial"/>
              <a:buChar char="●"/>
            </a:pPr>
            <a:r>
              <a:rPr lang="en" sz="1100">
                <a:highlight>
                  <a:srgbClr val="FFFFFF"/>
                </a:highlight>
              </a:rPr>
              <a:t>District Avg Overall Feedback: 4.62</a:t>
            </a:r>
            <a:endParaRPr sz="1100">
              <a:highlight>
                <a:srgbClr val="FFFFFF"/>
              </a:highlight>
            </a:endParaRPr>
          </a:p>
          <a:p>
            <a:pPr indent="-298450" lvl="0" marL="457200" rtl="0" algn="l">
              <a:spcBef>
                <a:spcPts val="0"/>
              </a:spcBef>
              <a:spcAft>
                <a:spcPts val="0"/>
              </a:spcAft>
              <a:buClr>
                <a:srgbClr val="1F2D4E"/>
              </a:buClr>
              <a:buSzPts val="1100"/>
              <a:buFont typeface="Arial"/>
              <a:buChar char="●"/>
            </a:pPr>
            <a:r>
              <a:rPr lang="en" sz="1100">
                <a:highlight>
                  <a:srgbClr val="FFFFFF"/>
                </a:highlight>
              </a:rPr>
              <a:t>District Avg Preparedness: 4.62</a:t>
            </a:r>
            <a:endParaRPr sz="1100">
              <a:highlight>
                <a:srgbClr val="FFFFFF"/>
              </a:highlight>
            </a:endParaRPr>
          </a:p>
          <a:p>
            <a:pPr indent="-298450" lvl="0" marL="457200" rtl="0" algn="l">
              <a:spcBef>
                <a:spcPts val="0"/>
              </a:spcBef>
              <a:spcAft>
                <a:spcPts val="0"/>
              </a:spcAft>
              <a:buClr>
                <a:srgbClr val="1F2D4E"/>
              </a:buClr>
              <a:buSzPts val="1100"/>
              <a:buFont typeface="Arial"/>
              <a:buChar char="●"/>
            </a:pPr>
            <a:r>
              <a:rPr lang="en" sz="1100">
                <a:highlight>
                  <a:srgbClr val="FFFFFF"/>
                </a:highlight>
              </a:rPr>
              <a:t>Feedback Score Range: 4.45 (Social Studies) — 4.73 (Summer School General)</a:t>
            </a:r>
            <a:endParaRPr sz="1100">
              <a:highlight>
                <a:srgbClr val="FFFFFF"/>
              </a:highlight>
            </a:endParaRPr>
          </a:p>
          <a:p>
            <a:pPr indent="-298450" lvl="0" marL="457200" rtl="0" algn="l">
              <a:spcBef>
                <a:spcPts val="0"/>
              </a:spcBef>
              <a:spcAft>
                <a:spcPts val="0"/>
              </a:spcAft>
              <a:buClr>
                <a:srgbClr val="1F2D4E"/>
              </a:buClr>
              <a:buSzPts val="1100"/>
              <a:buFont typeface="Arial"/>
              <a:buChar char="●"/>
            </a:pPr>
            <a:r>
              <a:rPr lang="en" sz="1100">
                <a:highlight>
                  <a:srgbClr val="FFFFFF"/>
                </a:highlight>
              </a:rPr>
              <a:t>Preparedness Score Range: 4.14 (Raul) — 5.00 (Brian/Devin/Jessica/Robin)</a:t>
            </a:r>
            <a:endParaRPr sz="1100">
              <a:highlight>
                <a:srgbClr val="FFFFFF"/>
              </a:highlight>
            </a:endParaRPr>
          </a:p>
          <a:p>
            <a:pPr indent="0" lvl="0" marL="0" rtl="0" algn="l">
              <a:spcBef>
                <a:spcPts val="90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